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5f5f4500ec4cc4" /><Relationship Type="http://schemas.openxmlformats.org/officeDocument/2006/relationships/extended-properties" Target="/docProps/app.xml" Id="R4fc9e7dc62d746d9" /><Relationship Type="http://schemas.openxmlformats.org/officeDocument/2006/relationships/officeDocument" Target="/ppt/presentation.xml" Id="Ref57305ae82a49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8a88bd8c3946ce"/>
  </p:sldMasterIdLst>
  <p:notesMasterIdLst>
    <p:notesMasterId xmlns:r="http://schemas.openxmlformats.org/officeDocument/2006/relationships" r:id="R1e0c158143914c93"/>
  </p:notesMasterIdLst>
  <p:sldIdLst>
    <p:sldId xmlns:r="http://schemas.openxmlformats.org/officeDocument/2006/relationships" id="256" r:id="R36b20934813e4fb7"/>
    <p:sldId xmlns:r="http://schemas.openxmlformats.org/officeDocument/2006/relationships" id="257" r:id="R0b416ff22abe4a7d"/>
    <p:sldId xmlns:r="http://schemas.openxmlformats.org/officeDocument/2006/relationships" id="258" r:id="R615bbbbfe6264bc1"/>
    <p:sldId xmlns:r="http://schemas.openxmlformats.org/officeDocument/2006/relationships" id="259" r:id="R71fa935cf7b24c01"/>
    <p:sldId xmlns:r="http://schemas.openxmlformats.org/officeDocument/2006/relationships" id="260" r:id="Rd9020d957ab64f4e"/>
    <p:sldId xmlns:r="http://schemas.openxmlformats.org/officeDocument/2006/relationships" id="261" r:id="R1d02f6f548a54fe9"/>
    <p:sldId xmlns:r="http://schemas.openxmlformats.org/officeDocument/2006/relationships" id="262" r:id="R237ddd391f8042f7"/>
    <p:sldId xmlns:r="http://schemas.openxmlformats.org/officeDocument/2006/relationships" id="263" r:id="R6f12096d50d64ddc"/>
    <p:sldId xmlns:r="http://schemas.openxmlformats.org/officeDocument/2006/relationships" id="264" r:id="R2ebacf894af640b8"/>
    <p:sldId xmlns:r="http://schemas.openxmlformats.org/officeDocument/2006/relationships" id="265" r:id="R18a281954ec244c4"/>
    <p:sldId xmlns:r="http://schemas.openxmlformats.org/officeDocument/2006/relationships" id="266" r:id="R92fb4264bb714588"/>
    <p:sldId xmlns:r="http://schemas.openxmlformats.org/officeDocument/2006/relationships" id="267" r:id="R6e22769eac824409"/>
    <p:sldId xmlns:r="http://schemas.openxmlformats.org/officeDocument/2006/relationships" id="268" r:id="R7a4c8b8ba0b2416a"/>
    <p:sldId xmlns:r="http://schemas.openxmlformats.org/officeDocument/2006/relationships" id="269" r:id="R01ffcd4e3d3b41b3"/>
    <p:sldId xmlns:r="http://schemas.openxmlformats.org/officeDocument/2006/relationships" id="270" r:id="Rb7bc77cd8dc5461e"/>
    <p:sldId xmlns:r="http://schemas.openxmlformats.org/officeDocument/2006/relationships" id="271" r:id="R9b6114c4f6a8495f"/>
    <p:sldId xmlns:r="http://schemas.openxmlformats.org/officeDocument/2006/relationships" id="272" r:id="R310be40ea87647bc"/>
    <p:sldId xmlns:r="http://schemas.openxmlformats.org/officeDocument/2006/relationships" id="273" r:id="Re5e2710c65f54f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6cb8cd763c492a" /><Relationship Type="http://schemas.openxmlformats.org/officeDocument/2006/relationships/slideMaster" Target="/ppt/slideMasters/slideMaster1.xml" Id="R588a88bd8c3946ce" /><Relationship Type="http://schemas.openxmlformats.org/officeDocument/2006/relationships/notesMaster" Target="/ppt/notesMasters/notesMaster1.xml" Id="R1e0c158143914c93" /><Relationship Type="http://schemas.openxmlformats.org/officeDocument/2006/relationships/presProps" Target="/ppt/presProps.xml" Id="Rb42963b5f063426b" /><Relationship Type="http://schemas.openxmlformats.org/officeDocument/2006/relationships/tableStyles" Target="/ppt/tableStyles.xml" Id="Rd1247ad4efe34b6c" /><Relationship Type="http://schemas.openxmlformats.org/officeDocument/2006/relationships/slide" Target="/ppt/slides/slide1.xml" Id="R36b20934813e4fb7" /><Relationship Type="http://schemas.openxmlformats.org/officeDocument/2006/relationships/slide" Target="/ppt/slides/slide2.xml" Id="R0b416ff22abe4a7d" /><Relationship Type="http://schemas.openxmlformats.org/officeDocument/2006/relationships/slide" Target="/ppt/slides/slide3.xml" Id="R615bbbbfe6264bc1" /><Relationship Type="http://schemas.openxmlformats.org/officeDocument/2006/relationships/slide" Target="/ppt/slides/slide4.xml" Id="R71fa935cf7b24c01" /><Relationship Type="http://schemas.openxmlformats.org/officeDocument/2006/relationships/slide" Target="/ppt/slides/slide5.xml" Id="Rd9020d957ab64f4e" /><Relationship Type="http://schemas.openxmlformats.org/officeDocument/2006/relationships/slide" Target="/ppt/slides/slide6.xml" Id="R1d02f6f548a54fe9" /><Relationship Type="http://schemas.openxmlformats.org/officeDocument/2006/relationships/slide" Target="/ppt/slides/slide7.xml" Id="R237ddd391f8042f7" /><Relationship Type="http://schemas.openxmlformats.org/officeDocument/2006/relationships/slide" Target="/ppt/slides/slide8.xml" Id="R6f12096d50d64ddc" /><Relationship Type="http://schemas.openxmlformats.org/officeDocument/2006/relationships/slide" Target="/ppt/slides/slide9.xml" Id="R2ebacf894af640b8" /><Relationship Type="http://schemas.openxmlformats.org/officeDocument/2006/relationships/slide" Target="/ppt/slides/slide10.xml" Id="R18a281954ec244c4" /><Relationship Type="http://schemas.openxmlformats.org/officeDocument/2006/relationships/slide" Target="/ppt/slides/slide11.xml" Id="R92fb4264bb714588" /><Relationship Type="http://schemas.openxmlformats.org/officeDocument/2006/relationships/slide" Target="/ppt/slides/slide12.xml" Id="R6e22769eac824409" /><Relationship Type="http://schemas.openxmlformats.org/officeDocument/2006/relationships/slide" Target="/ppt/slides/slide13.xml" Id="R7a4c8b8ba0b2416a" /><Relationship Type="http://schemas.openxmlformats.org/officeDocument/2006/relationships/slide" Target="/ppt/slides/slide14.xml" Id="R01ffcd4e3d3b41b3" /><Relationship Type="http://schemas.openxmlformats.org/officeDocument/2006/relationships/slide" Target="/ppt/slides/slide15.xml" Id="Rb7bc77cd8dc5461e" /><Relationship Type="http://schemas.openxmlformats.org/officeDocument/2006/relationships/slide" Target="/ppt/slides/slide16.xml" Id="R9b6114c4f6a8495f" /><Relationship Type="http://schemas.openxmlformats.org/officeDocument/2006/relationships/slide" Target="/ppt/slides/slide17.xml" Id="R310be40ea87647bc" /><Relationship Type="http://schemas.openxmlformats.org/officeDocument/2006/relationships/slide" Target="/ppt/slides/slide18.xml" Id="Re5e2710c65f54f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dfe8cb1d7d40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62195c0df94651" /><Relationship Type="http://schemas.openxmlformats.org/officeDocument/2006/relationships/notesMaster" Target="/ppt/notesMasters/notesMaster1.xml" Id="R63b4a303cdc443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b5712b8d054a57" /><Relationship Type="http://schemas.openxmlformats.org/officeDocument/2006/relationships/notesMaster" Target="/ppt/notesMasters/notesMaster1.xml" Id="R6992838b7c8141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cb2ccdb3d94655" /><Relationship Type="http://schemas.openxmlformats.org/officeDocument/2006/relationships/notesMaster" Target="/ppt/notesMasters/notesMaster1.xml" Id="Rb532a950681144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cc961d4805431b" /><Relationship Type="http://schemas.openxmlformats.org/officeDocument/2006/relationships/notesMaster" Target="/ppt/notesMasters/notesMaster1.xml" Id="Rdb9203e997ac4a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934f339b9a4266" /><Relationship Type="http://schemas.openxmlformats.org/officeDocument/2006/relationships/notesMaster" Target="/ppt/notesMasters/notesMaster1.xml" Id="R3429b4dd02d84c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54d535ed5a445f" /><Relationship Type="http://schemas.openxmlformats.org/officeDocument/2006/relationships/notesMaster" Target="/ppt/notesMasters/notesMaster1.xml" Id="Rbc56e0864b7d46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b60a6b0a1e4597" /><Relationship Type="http://schemas.openxmlformats.org/officeDocument/2006/relationships/notesMaster" Target="/ppt/notesMasters/notesMaster1.xml" Id="R2b788b0f9db84e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434a2a3b4b41a5" /><Relationship Type="http://schemas.openxmlformats.org/officeDocument/2006/relationships/notesMaster" Target="/ppt/notesMasters/notesMaster1.xml" Id="R843ee96554444c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7a6833430e4d13" /><Relationship Type="http://schemas.openxmlformats.org/officeDocument/2006/relationships/notesMaster" Target="/ppt/notesMasters/notesMaster1.xml" Id="R37755ec2d6014a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72b931a1ad44c9" /><Relationship Type="http://schemas.openxmlformats.org/officeDocument/2006/relationships/notesMaster" Target="/ppt/notesMasters/notesMaster1.xml" Id="R8fbdbb294e1749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953c3191084f89" /><Relationship Type="http://schemas.openxmlformats.org/officeDocument/2006/relationships/notesMaster" Target="/ppt/notesMasters/notesMaster1.xml" Id="Rfeec8096ec1942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d762328ec2415f" /><Relationship Type="http://schemas.openxmlformats.org/officeDocument/2006/relationships/notesMaster" Target="/ppt/notesMasters/notesMaster1.xml" Id="Rfd63320c814243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9baf1f960b4e04" /><Relationship Type="http://schemas.openxmlformats.org/officeDocument/2006/relationships/notesMaster" Target="/ppt/notesMasters/notesMaster1.xml" Id="Rde87f031716f43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01702e27464eb6" /><Relationship Type="http://schemas.openxmlformats.org/officeDocument/2006/relationships/notesMaster" Target="/ppt/notesMasters/notesMaster1.xml" Id="R797792b7fdbd48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8520ff78d64341" /><Relationship Type="http://schemas.openxmlformats.org/officeDocument/2006/relationships/notesMaster" Target="/ppt/notesMasters/notesMaster1.xml" Id="R4319e4e943754c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2ea6127b39e44be" /><Relationship Type="http://schemas.openxmlformats.org/officeDocument/2006/relationships/notesMaster" Target="/ppt/notesMasters/notesMaster1.xml" Id="Rf9c90fc7bf68407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721389b4ddc45a6" /><Relationship Type="http://schemas.openxmlformats.org/officeDocument/2006/relationships/notesMaster" Target="/ppt/notesMasters/notesMaster1.xml" Id="R5c6c8f3da92243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6ae75a927024663" /><Relationship Type="http://schemas.openxmlformats.org/officeDocument/2006/relationships/notesMaster" Target="/ppt/notesMasters/notesMaster1.xml" Id="Rb3d13eecddaf42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计算口径：万美元，启动后连续12个月。数字为条件测算，不代表已有订单。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计算口径：万美元，启动后连续12个月。数字为条件测算，不代表已有订单。</a:t>
            </a:r>
          </a:p>
          <a:p xmlns:a="http://schemas.openxmlformats.org/drawingml/2006/main">
            <a:r>
              <a:t>L03 旧版所有数值标注经营假设；签约180、收入120、固定费用102、现金支出160、周转授权90；缺月度模型和项目成本支撑。</a:t>
            </a:r>
          </a:p>
          <a:p xmlns:a="http://schemas.openxmlformats.org/drawingml/2006/main">
            <a:r>
              <a:t>本地：output/证据与执行底稿/经营模型.json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计算口径：万美元，启动后连续12个月。数字为条件测算，不代表已有订单。</a:t>
            </a:r>
          </a:p>
          <a:p xmlns:a="http://schemas.openxmlformats.org/drawingml/2006/main">
            <a:r>
              <a:t>L01 用户经营与战略研判报告第3页，MOSS转述企业自报，非审计；另有9608.65万元冲突数。仅做9600–11800万元体量敏感性。</a:t>
            </a:r>
          </a:p>
          <a:p xmlns:a="http://schemas.openxmlformats.org/drawingml/2006/main">
            <a:r>
              <a:t>本地：布比（北京）网络技术有限公司 · 经营与战略研判报告 · 2026-10-19.pdf</a:t>
            </a:r>
          </a:p>
          <a:p xmlns:a="http://schemas.openxmlformats.org/drawingml/2006/main">
            <a:r>
              <a:t>L02 同页年报129人与参保59人不同，既非可用工程师数也不能推断裁员；容量只做条件测试。</a:t>
            </a:r>
          </a:p>
          <a:p xmlns:a="http://schemas.openxmlformats.org/drawingml/2006/main">
            <a:r>
              <a:t>本地：同L01，第3页</a:t>
            </a:r>
          </a:p>
          <a:p xmlns:a="http://schemas.openxmlformats.org/drawingml/2006/main">
            <a:r>
              <a:t>R09 国际产业公链全栈建设、联合运营、资产数字化及跨境可信业务。公司自述，不证明订单或中东独家权。</a:t>
            </a:r>
          </a:p>
          <a:p xmlns:a="http://schemas.openxmlformats.org/drawingml/2006/main">
            <a:r>
              <a:t>https://www.bubi.cn/about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计算口径：万美元，启动后连续12个月。数字为条件测算，不代表已有订单。</a:t>
            </a:r>
          </a:p>
          <a:p xmlns:a="http://schemas.openxmlformats.org/drawingml/2006/main">
            <a:r>
              <a:t>R01 2030=11039.5；CAGR68.3%。商业研究摘要，非官方统计，完整方法不可见。仅作宏观校验。；2026-10-20复盘：直链重定向主页，搜索缓存仍有原值，仅作历史摘要参考。</a:t>
            </a:r>
          </a:p>
          <a:p xmlns:a="http://schemas.openxmlformats.org/drawingml/2006/main">
            <a:r>
              <a:t>https://www.marketsandmarkets.com/Market-Reports/geography/blockchain-technology-market/UAE</a:t>
            </a:r>
          </a:p>
          <a:p xmlns:a="http://schemas.openxmlformats.org/drawingml/2006/main">
            <a:r>
              <a:t>R02 2034=38064.9；CAGR64.81%。IMARC商业研究摘要；平台与服务口径，非客户可采购预算。</a:t>
            </a:r>
          </a:p>
          <a:p xmlns:a="http://schemas.openxmlformats.org/drawingml/2006/main">
            <a:r>
              <a:t>https://www.imarcgroup.com/saudi-arabia-blockchain-market</a:t>
            </a:r>
          </a:p>
          <a:p xmlns:a="http://schemas.openxmlformats.org/drawingml/2006/main">
            <a:r>
              <a:t>R03 P&amp;S公开摘要较R02高约29倍；缺少可复核口径桥接，不作预算基数，也不平均。</a:t>
            </a:r>
          </a:p>
          <a:p xmlns:a="http://schemas.openxmlformats.org/drawingml/2006/main">
            <a:r>
              <a:t>https://www.psmarketresearch.com/market-analysis/saudi-arabia-blockchain-technology-market-report</a:t>
            </a:r>
          </a:p>
          <a:p xmlns:a="http://schemas.openxmlformats.org/drawingml/2006/main">
            <a:r>
              <a:t>R05 Chainalysis交易流量，包含土耳其等；禁止计入软件收入市场。</a:t>
            </a:r>
          </a:p>
          <a:p xmlns:a="http://schemas.openxmlformats.org/drawingml/2006/main">
            <a:r>
              <a:t>https://www.chainalysis.com/blog/middle-east-north-africa-crypto-adoption-2024/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计算口径：万美元，启动后连续12个月。数字为条件测算，不代表已有订单。</a:t>
            </a:r>
          </a:p>
          <a:p xmlns:a="http://schemas.openxmlformats.org/drawingml/2006/main">
            <a:r>
              <a:t>H01 全部为可修改经营假设，不是行业实测。用成本底线、客户价值、销售容量与市场区间交叉约束。</a:t>
            </a:r>
          </a:p>
          <a:p xmlns:a="http://schemas.openxmlformats.org/drawingml/2006/main">
            <a:r>
              <a:t>本次模型假设，见假设与单价工作表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计算口径：万美元，启动后连续12个月。数字为条件测算，不代表已有订单。</a:t>
            </a:r>
          </a:p>
          <a:p xmlns:a="http://schemas.openxmlformats.org/drawingml/2006/main">
            <a:r>
              <a:t>H01 全部为可修改经营假设，不是行业实测。用成本底线、客户价值、销售容量与市场区间交叉约束。</a:t>
            </a:r>
          </a:p>
          <a:p xmlns:a="http://schemas.openxmlformats.org/drawingml/2006/main">
            <a:r>
              <a:t>本次模型假设，见假设与单价工作表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计算口径：万美元，启动后连续12个月。数字为条件测算，不代表已有订单。</a:t>
            </a:r>
          </a:p>
          <a:p xmlns:a="http://schemas.openxmlformats.org/drawingml/2006/main">
            <a:r>
              <a:t>H01 全部为可修改经营假设，不是行业实测。用成本底线、客户价值、销售容量与市场区间交叉约束。</a:t>
            </a:r>
          </a:p>
          <a:p xmlns:a="http://schemas.openxmlformats.org/drawingml/2006/main">
            <a:r>
              <a:t>本次模型假设，见假设与单价工作表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计算口径：万美元，启动后连续12个月。数字为条件测算，不代表已有订单。</a:t>
            </a:r>
          </a:p>
          <a:p xmlns:a="http://schemas.openxmlformats.org/drawingml/2006/main">
            <a:r>
              <a:t>H01 全部为可修改经营假设，不是行业实测。用成本底线、客户价值、销售容量与市场区间交叉约束。</a:t>
            </a:r>
          </a:p>
          <a:p xmlns:a="http://schemas.openxmlformats.org/drawingml/2006/main">
            <a:r>
              <a:t>本次模型假设，见假设与单价工作表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计算口径：万美元，启动后连续12个月。数字为条件测算，不代表已有订单。</a:t>
            </a:r>
          </a:p>
          <a:p xmlns:a="http://schemas.openxmlformats.org/drawingml/2006/main">
            <a:r>
              <a:t>H01 全部为可修改经营假设，不是行业实测。用成本底线、客户价值、销售容量与市场区间交叉约束。</a:t>
            </a:r>
          </a:p>
          <a:p xmlns:a="http://schemas.openxmlformats.org/drawingml/2006/main">
            <a:r>
              <a:t>本次模型假设，见假设与单价工作表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计算口径：万美元，启动后连续12个月。数字为条件测算，不代表已有订单。</a:t>
            </a:r>
          </a:p>
          <a:p xmlns:a="http://schemas.openxmlformats.org/drawingml/2006/main">
            <a:r>
              <a:t>H01 全部为可修改经营假设，不是行业实测。用成本底线、客户价值、销售容量与市场区间交叉约束。</a:t>
            </a:r>
          </a:p>
          <a:p xmlns:a="http://schemas.openxmlformats.org/drawingml/2006/main">
            <a:r>
              <a:t>本次模型假设，见假设与单价工作表</a:t>
            </a:r>
          </a:p>
          <a:p xmlns:a="http://schemas.openxmlformats.org/drawingml/2006/main">
            <a:r>
              <a:t>L02 同页年报129人与参保59人不同，既非可用工程师数也不能推断裁员；容量只做条件测试。</a:t>
            </a:r>
          </a:p>
          <a:p xmlns:a="http://schemas.openxmlformats.org/drawingml/2006/main">
            <a:r>
              <a:t>本地：同L01，第3页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计算口径：万美元，启动后连续12个月。数字为条件测算，不代表已有订单。</a:t>
            </a:r>
          </a:p>
          <a:p xmlns:a="http://schemas.openxmlformats.org/drawingml/2006/main">
            <a:r>
              <a:t>R06 Hays PDF第72页，区间35000–50000；固定月薪已含固定津贴，雇主成本另计。2026新版可见但未取得完整表，不冒称最新报价。</a:t>
            </a:r>
          </a:p>
          <a:p xmlns:a="http://schemas.openxmlformats.org/drawingml/2006/main">
            <a:r>
              <a:t>https://www.hays.ae/documents/d/hays-salary-guide-ae/hays-gcc-salary-guide-2025-1</a:t>
            </a:r>
          </a:p>
          <a:p xmlns:a="http://schemas.openxmlformats.org/drawingml/2006/main">
            <a:r>
              <a:t>R07 央行公开汇率；预算人民币汇率7.2为假设而非即期报价。</a:t>
            </a:r>
          </a:p>
          <a:p xmlns:a="http://schemas.openxmlformats.org/drawingml/2006/main">
            <a:r>
              <a:t>https://centralbank.ae/umbraco/Surface/Exchange/GetExchangeRateAllCurrency</a:t>
            </a:r>
          </a:p>
          <a:p xmlns:a="http://schemas.openxmlformats.org/drawingml/2006/main">
            <a:r>
              <a:t>R08 SAMA公开汇率。</a:t>
            </a:r>
          </a:p>
          <a:p xmlns:a="http://schemas.openxmlformats.org/drawingml/2006/main">
            <a:r>
              <a:t>https://sama.gov.sa/en-US/Currency/FinExc/pages/currency.aspx</a:t>
            </a:r>
          </a:p>
          <a:p xmlns:a="http://schemas.openxmlformats.org/drawingml/2006/main">
            <a:r>
              <a:t>H01 全部为可修改经营假设，不是行业实测。用成本底线、客户价值、销售容量与市场区间交叉约束。</a:t>
            </a:r>
          </a:p>
          <a:p xmlns:a="http://schemas.openxmlformats.org/drawingml/2006/main">
            <a:r>
              <a:t>本次模型假设，见假设与单价工作表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计算口径：万美元，启动后连续12个月。数字为条件测算，不代表已有订单。</a:t>
            </a:r>
          </a:p>
          <a:p xmlns:a="http://schemas.openxmlformats.org/drawingml/2006/main">
            <a:r>
              <a:t>H01 全部为可修改经营假设，不是行业实测。用成本底线、客户价值、销售容量与市场区间交叉约束。</a:t>
            </a:r>
          </a:p>
          <a:p xmlns:a="http://schemas.openxmlformats.org/drawingml/2006/main">
            <a:r>
              <a:t>本次模型假设，见假设与单价工作表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计算口径：万美元，启动后连续12个月。数字为条件测算，不代表已有订单。</a:t>
            </a:r>
          </a:p>
          <a:p xmlns:a="http://schemas.openxmlformats.org/drawingml/2006/main">
            <a:r>
              <a:t>H01 全部为可修改经营假设，不是行业实测。用成本底线、客户价值、销售容量与市场区间交叉约束。</a:t>
            </a:r>
          </a:p>
          <a:p xmlns:a="http://schemas.openxmlformats.org/drawingml/2006/main">
            <a:r>
              <a:t>本次模型假设，见假设与单价工作表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计算口径：万美元，启动后连续12个月。数字为条件测算，不代表已有订单。</a:t>
            </a:r>
          </a:p>
          <a:p xmlns:a="http://schemas.openxmlformats.org/drawingml/2006/main">
            <a:r>
              <a:t>H01 全部为可修改经营假设，不是行业实测。用成本底线、客户价值、销售容量与市场区间交叉约束。</a:t>
            </a:r>
          </a:p>
          <a:p xmlns:a="http://schemas.openxmlformats.org/drawingml/2006/main">
            <a:r>
              <a:t>本次模型假设，见假设与单价工作表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计算口径：万美元，启动后连续12个月。数字为条件测算，不代表已有订单。</a:t>
            </a:r>
          </a:p>
          <a:p xmlns:a="http://schemas.openxmlformats.org/drawingml/2006/main">
            <a:r>
              <a:t>H01 全部为可修改经营假设，不是行业实测。用成本底线、客户价值、销售容量与市场区间交叉约束。</a:t>
            </a:r>
          </a:p>
          <a:p xmlns:a="http://schemas.openxmlformats.org/drawingml/2006/main">
            <a:r>
              <a:t>本次模型假设，见假设与单价工作表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计算口径：万美元，启动后连续12个月。数字为条件测算，不代表已有订单。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计算口径：万美元，启动后连续12个月。数字为条件测算，不代表已有订单。</a:t>
            </a:r>
          </a:p>
          <a:p xmlns:a="http://schemas.openxmlformats.org/drawingml/2006/main">
            <a:r>
              <a:t>H01 全部为可修改经营假设，不是行业实测。用成本底线、客户价值、销售容量与市场区间交叉约束。</a:t>
            </a:r>
          </a:p>
          <a:p xmlns:a="http://schemas.openxmlformats.org/drawingml/2006/main">
            <a:r>
              <a:t>本次模型假设，见假设与单价工作表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计算口径：万美元，启动后连续12个月。数字为条件测算，不代表已有订单。</a:t>
            </a:r>
          </a:p>
          <a:p xmlns:a="http://schemas.openxmlformats.org/drawingml/2006/main">
            <a:r>
              <a:t>H01 全部为可修改经营假设，不是行业实测。用成本底线、客户价值、销售容量与市场区间交叉约束。</a:t>
            </a:r>
          </a:p>
          <a:p xmlns:a="http://schemas.openxmlformats.org/drawingml/2006/main">
            <a:r>
              <a:t>本次模型假设，见假设与单价工作表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fa77641e3140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4b3a1ad8d47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59875b05b140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b363b76bf040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88ad581a6c41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f08bf3251349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0A6285-C658-47DA-8FD3-678A6D89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80F97C8-5116-4C0D-B245-F9C7B0E3ED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97C4E51-C907-4390-BAB9-076DD32F52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9E8922-7FEC-4E8A-B686-5B92A94791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90E143-3E1A-483E-BB3C-761F3F5663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60BCF85-8ED7-47FA-975A-25DA0AE69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375832-1890-49B2-800E-E5C8BB198A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7D395DB-19E0-4312-89DC-CB14200A71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206EB0-6038-4678-A686-5895600EEC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A2CFA6-76C6-49F5-869A-6602AA2CB1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6e62a3b6774846" /><Relationship Type="http://schemas.openxmlformats.org/officeDocument/2006/relationships/slideLayout" Target="/ppt/slideLayouts/slideLayout1.xml" Id="R5b80ed7681a94e83" /><Relationship Type="http://schemas.openxmlformats.org/officeDocument/2006/relationships/slideLayout" Target="/ppt/slideLayouts/slideLayout2.xml" Id="R23ea589c9bd4430c" /><Relationship Type="http://schemas.openxmlformats.org/officeDocument/2006/relationships/slideLayout" Target="/ppt/slideLayouts/slideLayout3.xml" Id="Rf2c434fae02446c9" /><Relationship Type="http://schemas.openxmlformats.org/officeDocument/2006/relationships/slideLayout" Target="/ppt/slideLayouts/slideLayout4.xml" Id="R8af8da3d6d8746ff" /><Relationship Type="http://schemas.openxmlformats.org/officeDocument/2006/relationships/slideLayout" Target="/ppt/slideLayouts/slideLayout5.xml" Id="Rd793a98a12a84f7a" /><Relationship Type="http://schemas.openxmlformats.org/officeDocument/2006/relationships/slideLayout" Target="/ppt/slideLayouts/slideLayout6.xml" Id="R4b7f1d0b996d43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80ed7681a94e83"/>
    <p:sldLayoutId xmlns:r="http://schemas.openxmlformats.org/officeDocument/2006/relationships" id="2147483650" r:id="R23ea589c9bd4430c"/>
    <p:sldLayoutId xmlns:r="http://schemas.openxmlformats.org/officeDocument/2006/relationships" id="2147483651" r:id="Rf2c434fae02446c9"/>
    <p:sldLayoutId xmlns:r="http://schemas.openxmlformats.org/officeDocument/2006/relationships" id="2147483652" r:id="R8af8da3d6d8746ff"/>
    <p:sldLayoutId xmlns:r="http://schemas.openxmlformats.org/officeDocument/2006/relationships" id="2147483653" r:id="Rd793a98a12a84f7a"/>
    <p:sldLayoutId xmlns:r="http://schemas.openxmlformats.org/officeDocument/2006/relationships" id="2147483654" r:id="R4b7f1d0b996d43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9d0a99cc834382" /><Relationship Type="http://schemas.openxmlformats.org/officeDocument/2006/relationships/notesSlide" Target="/ppt/notesSlides/notesSlide1.xml" Id="R1884a0cd1d9c4d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57c3b4350b41c0" /><Relationship Type="http://schemas.openxmlformats.org/officeDocument/2006/relationships/notesSlide" Target="/ppt/notesSlides/notesSlide2.xml" Id="R07c9076ae22848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048d4a4be441bc" /><Relationship Type="http://schemas.openxmlformats.org/officeDocument/2006/relationships/notesSlide" Target="/ppt/notesSlides/notesSlide3.xml" Id="R6356f451373947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f084bdb1314894" /><Relationship Type="http://schemas.openxmlformats.org/officeDocument/2006/relationships/notesSlide" Target="/ppt/notesSlides/notesSlide4.xml" Id="Rc55c88d2d3344d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b7bbfc07a04411" /><Relationship Type="http://schemas.openxmlformats.org/officeDocument/2006/relationships/notesSlide" Target="/ppt/notesSlides/notesSlide5.xml" Id="R0bd26db345fe45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b5176e83e6417a" /><Relationship Type="http://schemas.openxmlformats.org/officeDocument/2006/relationships/notesSlide" Target="/ppt/notesSlides/notesSlide6.xml" Id="Rc6eda279914149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a79b181201478e" /><Relationship Type="http://schemas.openxmlformats.org/officeDocument/2006/relationships/notesSlide" Target="/ppt/notesSlides/notesSlide7.xml" Id="Rbb8ad843c54946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3133d0e6d34ddd" /><Relationship Type="http://schemas.openxmlformats.org/officeDocument/2006/relationships/notesSlide" Target="/ppt/notesSlides/notesSlide8.xml" Id="R9503e32166014c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6e9a77d0cc416f" /><Relationship Type="http://schemas.openxmlformats.org/officeDocument/2006/relationships/chart" Target="/ppt/slides/charts/chart1.xml" Id="Re4d23d3e3f554594" /><Relationship Type="http://schemas.openxmlformats.org/officeDocument/2006/relationships/notesSlide" Target="/ppt/notesSlides/notesSlide9.xml" Id="Rbe02ff3c3adb4a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a68f01f47b434d" /><Relationship Type="http://schemas.openxmlformats.org/officeDocument/2006/relationships/chart" Target="/ppt/slides/charts/chart2.xml" Id="R2d378489e4004e4b" /><Relationship Type="http://schemas.openxmlformats.org/officeDocument/2006/relationships/notesSlide" Target="/ppt/notesSlides/notesSlide10.xml" Id="Re4af12c6da144e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7fc0829ffe4bab" /><Relationship Type="http://schemas.openxmlformats.org/officeDocument/2006/relationships/notesSlide" Target="/ppt/notesSlides/notesSlide11.xml" Id="Rdb34d1ce4bdd48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386b2b91bf4c65" /><Relationship Type="http://schemas.openxmlformats.org/officeDocument/2006/relationships/notesSlide" Target="/ppt/notesSlides/notesSlide12.xml" Id="R8bb10fa429864e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cd410d15f1436e" /><Relationship Type="http://schemas.openxmlformats.org/officeDocument/2006/relationships/notesSlide" Target="/ppt/notesSlides/notesSlide13.xml" Id="R463b1d3785f64c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b60fab03fb4d92" /><Relationship Type="http://schemas.openxmlformats.org/officeDocument/2006/relationships/notesSlide" Target="/ppt/notesSlides/notesSlide14.xml" Id="R47af0f8a8d264a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502b1f07ce4995" /><Relationship Type="http://schemas.openxmlformats.org/officeDocument/2006/relationships/notesSlide" Target="/ppt/notesSlides/notesSlide15.xml" Id="Ra8ff4d946f6b47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973ffef6114465" /><Relationship Type="http://schemas.openxmlformats.org/officeDocument/2006/relationships/notesSlide" Target="/ppt/notesSlides/notesSlide16.xml" Id="R08a4f38fb7fd42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d5d637e7eb4cce" /><Relationship Type="http://schemas.openxmlformats.org/officeDocument/2006/relationships/notesSlide" Target="/ppt/notesSlides/notesSlide17.xml" Id="Rf548d454523240a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deb820547b4bd7" /><Relationship Type="http://schemas.openxmlformats.org/officeDocument/2006/relationships/notesSlide" Target="/ppt/notesSlides/notesSlide18.xml" Id="Rba11036755dd490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累计净现金流</c:v>
          </c:tx>
          <c:spPr>
            <a:solidFill xmlns:a="http://schemas.openxmlformats.org/drawingml/2006/main">
              <a:srgbClr val="BF604D"/>
            </a:solidFill>
          </c:spPr>
          <c:marker>
            <c:symbol val="none"/>
          </c:marker>
          <c:cat>
            <c:strRef>
              <c:f>'Chart Data'!$A$2:$A$13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-11.3</c:v>
                </c:pt>
                <c:pt idx="1">
                  <c:v>-26.3</c:v>
                </c:pt>
                <c:pt idx="2">
                  <c:v>-39.2</c:v>
                </c:pt>
                <c:pt idx="3">
                  <c:v>-52.8</c:v>
                </c:pt>
                <c:pt idx="4">
                  <c:v>-59.8</c:v>
                </c:pt>
                <c:pt idx="5">
                  <c:v>-81.6</c:v>
                </c:pt>
                <c:pt idx="6">
                  <c:v>-57.9</c:v>
                </c:pt>
                <c:pt idx="7">
                  <c:v>-74.8</c:v>
                </c:pt>
                <c:pt idx="8">
                  <c:v>-77.1</c:v>
                </c:pt>
                <c:pt idx="9">
                  <c:v>-12.1</c:v>
                </c:pt>
                <c:pt idx="10">
                  <c:v>10.9</c:v>
                </c:pt>
                <c:pt idx="11">
                  <c:v>39.6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2C9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名义工程FTE</c:v>
          </c:tx>
          <c:spPr>
            <a:solidFill xmlns:a="http://schemas.openxmlformats.org/drawingml/2006/main">
              <a:srgbClr val="536A72"/>
            </a:solidFill>
          </c:spPr>
          <c:invertIfNegative val="0"/>
          <c:cat>
            <c:strRef>
              <c:f>'Chart Data'!$A$2:$A$13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4</c:v>
                </c:pt>
                <c:pt idx="4">
                  <c:v>4</c:v>
                </c:pt>
                <c:pt idx="5">
                  <c:v>18</c:v>
                </c:pt>
                <c:pt idx="6">
                  <c:v>24</c:v>
                </c:pt>
                <c:pt idx="7">
                  <c:v>30</c:v>
                </c:pt>
                <c:pt idx="8">
                  <c:v>36</c:v>
                </c:pt>
                <c:pt idx="9">
                  <c:v>30</c:v>
                </c:pt>
                <c:pt idx="10">
                  <c:v>22</c:v>
                </c:pt>
                <c:pt idx="11">
                  <c:v>14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2C9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AAE5E-55ED-4DD7-9A04-D20177D6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BUBI  /  MIDDLE EAST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2E0D8-181C-420F-B7D2-2893CEC3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布比中东业务经营方案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359FB-C0C0-44FC-ABFD-8CEC7C82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2026.10.20  /  v2.1  /  经营假设，非在手订单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84F3E-F3B4-4990-BF39-E6FAFE75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B8ED1-796A-4D64-B5A3-94C8A03C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43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43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43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43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43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43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43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43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43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目标、预算与资金需求重算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39F18-2F70-4ACB-A09F-B53D6B0A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70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70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70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70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70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70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70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70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70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rPr>
              <a:t>企业业务 332万美元</a:t>
            </a:r>
          </a:p>
          <a:p xmlns:a="http://schemas.openxmlformats.org/drawingml/2006/main">
            <a:pPr>
              <a:defRPr sz="270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rPr>
              <a:t>产业项目附条件增量 144万美元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506B2-C9F1-4567-84D2-37421443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首年目标应随交付容量和回款条件一起批准。</a:t>
            </a:r>
          </a:p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覆盖阿联酋与沙特，保留三档情景和跨年履约安排。</a:t>
            </a:r>
          </a:p>
        </p:txBody>
      </p:sp>
    </p:spTree>
    <p:extLst>
      <p:ext uri="{BB962C8B-B14F-4D97-AF65-F5344CB8AC3E}">
        <p14:creationId xmlns:p14="http://schemas.microsoft.com/office/powerpoint/2010/main" val="13923031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9E96E-F5FA-4A27-89B4-0335CC63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BUBI  /  MIDDLE EAST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C92BE-561D-43DB-8B16-69F1C5D4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原目标为什么需要重算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B90B0-C1AB-4F91-9A17-C62BC679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2026.10.20  /  v2.1  /  经营假设，非在手订单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08915-EC7B-4753-95F2-8CCA8D2F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B5786-CDC8-459E-9E3F-1B6069F1770A}"/>
              </a:ext>
            </a:extLst>
          </p:cNvPr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476750"/>
                <a:gridCol w="3981450"/>
              </a:tblGrid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原设计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缺少的依据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本次处理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180万美元签约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数量、单价、市场及容量交叉验证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按项目及销售路径重建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160万美元现金支出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岗位月份、项目工时、付款排期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逐月计算现金峰值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总部约2名工程资源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同时交付多个项目的可行性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核对工程人月与并发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E7C96-2B40-4D0B-AA23-BF0B8A93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旧版算术可以衔接，但更接近试水预算，不能直接作为中东业务能力上限。</a:t>
            </a:r>
          </a:p>
        </p:txBody>
      </p:sp>
    </p:spTree>
    <p:extLst>
      <p:ext uri="{BB962C8B-B14F-4D97-AF65-F5344CB8AC3E}">
        <p14:creationId xmlns:p14="http://schemas.microsoft.com/office/powerpoint/2010/main" val="16919406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97712-A94D-4A62-9C08-82AD03DD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BUBI  /  MIDDLE EAST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46DF6-AFD7-4968-BBB5-B3FE6763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公司体量决定投入级别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0FBF1-9BE9-42C1-AF81-9F45CECA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2026.10.20  /  v2.1  /  经营假设，非在手订单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A301F-6F66-4140-82E4-6A1D1AC4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6BABF-C8B4-442C-BBEF-A8D32CC8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rPr>
              <a:t>25%–31%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1AD24-76D3-48E8-8A78-C1C29542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75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0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0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0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0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0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0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0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0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0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新版首年收入相对公司参考体量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903AD-E49F-433F-ABC7-56BA80EE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5095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00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00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00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00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00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00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00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00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00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公司收入参考：人民币0.96–1.18亿元</a:t>
            </a:r>
          </a:p>
          <a:p xmlns:a="http://schemas.openxmlformats.org/drawingml/2006/main">
            <a:pPr>
              <a:defRPr sz="2100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新版收入：410万美元</a:t>
            </a:r>
          </a:p>
          <a:p xmlns:a="http://schemas.openxmlformats.org/drawingml/2006/main">
            <a:pPr>
              <a:defRPr sz="2100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换算假设：7.2人民币/美元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FEFAF-A2A6-4F1D-95A6-2FD1B810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公司收入来自用户材料，年份及合并口径待核。</a:t>
            </a:r>
          </a:p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只能用于量级约束，不能当作最新审计营收。</a:t>
            </a:r>
          </a:p>
        </p:txBody>
      </p:sp>
    </p:spTree>
    <p:extLst>
      <p:ext uri="{BB962C8B-B14F-4D97-AF65-F5344CB8AC3E}">
        <p14:creationId xmlns:p14="http://schemas.microsoft.com/office/powerpoint/2010/main" val="12472261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7BE44-B402-48D0-9318-0B0A7405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BUBI  /  MIDDLE EAST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C168C-8316-4420-9A7B-99D53EAD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市场空间与证据分歧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489F2-8FB5-4650-A1BD-555BD5B7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2026.10.20  /  v2.1  /  经营假设，非在手订单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4FEEC-DC28-4A07-AC58-1F8F7A1F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3B26B-AC1D-43F3-B099-CB332D4D6E25}"/>
              </a:ext>
            </a:extLst>
          </p:cNvPr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143250"/>
                <a:gridCol w="436245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公开摘要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模型用途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UAE区块链 2025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8.186亿美元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宽口径参照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沙特区块链 2025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3.807亿美元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宽口径参照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沙特另一出版商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112亿美元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差约29倍，不混合平均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MENA链上流量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3387亿美元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交易额，不能充作软件收入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2A0F6-554C-4FFF-BD85-2F6B808D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商业研究口径分歧很大。市场用于校验空间，不能直接乘一个份额得到布比销售额。</a:t>
            </a:r>
          </a:p>
        </p:txBody>
      </p:sp>
    </p:spTree>
    <p:extLst>
      <p:ext uri="{BB962C8B-B14F-4D97-AF65-F5344CB8AC3E}">
        <p14:creationId xmlns:p14="http://schemas.microsoft.com/office/powerpoint/2010/main" val="19265914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4D18E-86BD-404C-BF1D-75406843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BUBI  /  MIDDLE EAST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93AD7-4568-4EB8-8083-F4883FF9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476万美元需要哪些合同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62E37-5281-45FB-9298-C4EAB795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2026.10.20  /  v2.1  /  经营假设，非在手订单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F4049-DB3A-47AC-8012-1DF2FDC0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3A7B9-74A6-4FE6-9AEA-823CCD73B39C}"/>
              </a:ext>
            </a:extLst>
          </p:cNvPr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2143125"/>
                <a:gridCol w="1714500"/>
                <a:gridCol w="2505075"/>
              </a:tblGrid>
              <a:tr h="619125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项目组合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单项净额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数量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签约合计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</a:tr>
              <a:tr h="6191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收费验证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  <a:tr h="6191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企业实施与年度支持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67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268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</a:tr>
              <a:tr h="6191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产业实施与年度支持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144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144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  <a:tr h="6191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合计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476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9E738-F12B-4FDA-BBC5-61B40DA7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4个生产客户来自8个验证客户，企业客户不重复累计。</a:t>
            </a:r>
          </a:p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另有1家产业运营方，共9家独立客户；全部为计划槽位。</a:t>
            </a:r>
          </a:p>
        </p:txBody>
      </p:sp>
    </p:spTree>
    <p:extLst>
      <p:ext uri="{BB962C8B-B14F-4D97-AF65-F5344CB8AC3E}">
        <p14:creationId xmlns:p14="http://schemas.microsoft.com/office/powerpoint/2010/main" val="12318345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0996B-1E67-4C84-A3CC-39BA1A79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BUBI  /  MIDDLE EAST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F560B-1B38-4F4D-9C2B-1FB67DE6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单价同时受成本和客户价值约束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8D436-DF02-42AF-BF85-F6D6CA93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2026.10.20  /  v2.1  /  经营假设，非在手订单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5AEB6-B1AE-4A00-957C-8A5E4DF5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59BE6-D0D1-4E7E-8C53-541E06D6DCB6}"/>
              </a:ext>
            </a:extLst>
          </p:cNvPr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2190750"/>
                <a:gridCol w="3048000"/>
                <a:gridCol w="2266950"/>
              </a:tblGrid>
              <a:tr h="714375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合同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净额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全周期直接成本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毛利率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</a:tr>
              <a:tr h="71437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收费验证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4.1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48.8%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  <a:tr h="71437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企业平台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67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32.35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51.7%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</a:tr>
              <a:tr h="71437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产业平台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144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74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48.6%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569BE-FD3A-4CE1-A648-772E93CF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直接成本含工程、外包、云、安全、支持和5%佣金。</a:t>
            </a:r>
          </a:p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工时与报价是可调假设，尚无当地成交样本支持“行业均价”。</a:t>
            </a:r>
          </a:p>
        </p:txBody>
      </p:sp>
    </p:spTree>
    <p:extLst>
      <p:ext uri="{BB962C8B-B14F-4D97-AF65-F5344CB8AC3E}">
        <p14:creationId xmlns:p14="http://schemas.microsoft.com/office/powerpoint/2010/main" val="12450444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FE911-E3A2-4474-BCA8-A55B33B9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BUBI  /  MIDDLE EAST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0F59D-BB50-48A1-95EA-AE9A2D1D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目标比风险调整规划值更有挑战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A4BA5-A4F4-44D1-B291-ED7B1B08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2026.10.20  /  v2.1  /  经营假设，非在手订单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45940-3967-482C-AC6F-2BEC6872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BFBA9-2009-4D0E-BB15-136D745C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rPr>
              <a:t>380万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E66AF-8194-4010-B74F-DCC769C5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风险调整规划签约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FCF6A-39B6-4774-A0E4-7752F2DF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50958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企业路径 289.4万</a:t>
            </a:r>
          </a:p>
          <a:p xmlns:a="http://schemas.openxmlformats.org/drawingml/2006/main">
            <a:pPr>
              <a:defRPr sz="2325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产业路径 90.7万</a:t>
            </a:r>
          </a:p>
          <a:p xmlns:a="http://schemas.openxmlformats.org/drawingml/2006/main">
            <a:pPr>
              <a:defRPr sz="2325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476万目标高出约25.2%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32599-729A-4E63-9DED-BB821B04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80企业/12运营方仅支持当前漏斗值；4生产/1产业的期望需至少97/20账户。</a:t>
            </a:r>
          </a:p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概率是经营假设；没有真实CRM，不能称为已验证预测。</a:t>
            </a:r>
          </a:p>
        </p:txBody>
      </p:sp>
    </p:spTree>
    <p:extLst>
      <p:ext uri="{BB962C8B-B14F-4D97-AF65-F5344CB8AC3E}">
        <p14:creationId xmlns:p14="http://schemas.microsoft.com/office/powerpoint/2010/main" val="6418558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DFDE2-811E-4DDE-9419-91C0F332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BUBI  /  MIDDLE EAST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A98D2-344F-4682-87A9-E34E537C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首年三档情景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7243A-59ED-42EA-A8CA-300E990F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2026.10.20  /  v2.1  /  经营假设，非在手订单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0CE51-34B1-4743-8E0F-A039173C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D8458-78EB-496F-A2B4-31C3B90637F5}"/>
              </a:ext>
            </a:extLst>
          </p:cNvPr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571750"/>
                <a:gridCol w="2609850"/>
                <a:gridCol w="2609850"/>
              </a:tblGrid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万美元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谨慎进入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资源到位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突破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</a:tr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净签约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166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476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786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确认收入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143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410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489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</a:tr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回款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87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375.5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479.3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经营贡献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-33.3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69.1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61.2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</a:tr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现金支出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172.4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335.9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467.4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41416-51B1-477F-884B-5275CE06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突破情景签约更高，但部分实施跨年，首年利润并不高于资源到位情景。</a:t>
            </a:r>
          </a:p>
        </p:txBody>
      </p:sp>
    </p:spTree>
    <p:extLst>
      <p:ext uri="{BB962C8B-B14F-4D97-AF65-F5344CB8AC3E}">
        <p14:creationId xmlns:p14="http://schemas.microsoft.com/office/powerpoint/2010/main" val="5742263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A005D-9DF9-4A79-8F76-3EE3A5ED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BUBI  /  MIDDLE EAST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D6C2F-C9A4-46C3-B335-7B10A352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年度现金为正仍需要启动资金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A29C5-5540-4C76-9114-664BAD34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2026.10.20  /  v2.1  /  经营假设，非在手订单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885A8-5D17-4007-9BB8-F7D6A345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1609E3D-A85C-4851-9980-A55B3F90EE46}"/>
              </a:ext>
            </a:extLst>
          </p:cNvPr>
          <p:cNvGraphicFramePr/>
          <p:nvPr/>
        </p:nvGraphicFramePr>
        <p:xfrm>
          <a:off xmlns:a="http://schemas.openxmlformats.org/drawingml/2006/main" x="628650" y="2000250"/>
          <a:ext xmlns:a="http://schemas.openxmlformats.org/drawingml/2006/main" cx="108394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d23d3e3f55459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64E34-891C-44F3-A0BF-37F09D66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M6累计缺口81.6万；年底回流39.6万。加26.6万固定费用储备，需108.2万周转额度。</a:t>
            </a:r>
          </a:p>
        </p:txBody>
      </p:sp>
    </p:spTree>
    <p:extLst>
      <p:ext uri="{BB962C8B-B14F-4D97-AF65-F5344CB8AC3E}">
        <p14:creationId xmlns:p14="http://schemas.microsoft.com/office/powerpoint/2010/main" val="8314671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24419-19C4-47BC-9A1B-F2F857F5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BUBI  /  MIDDLE EAST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95643-BAC1-45EB-AA45-907F83C8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提高目标必须配套交付资源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D797A-54C4-4E2F-8A66-B8176CA4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2026.10.20  /  v2.1  /  经营假设，非在手订单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7DB77-7CE8-49ED-A54C-AE948520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2BE0745-86B2-49EE-B614-80942116DFAB}"/>
              </a:ext>
            </a:extLst>
          </p:cNvPr>
          <p:cNvGraphicFramePr/>
          <p:nvPr/>
        </p:nvGraphicFramePr>
        <p:xfrm>
          <a:off xmlns:a="http://schemas.openxmlformats.org/drawingml/2006/main" x="628650" y="2000250"/>
          <a:ext xmlns:a="http://schemas.openxmlformats.org/drawingml/2006/main" cx="108394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378489e4004e4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493DC-5934-416D-BA22-07E35B57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全年138个有效工程人月，平均名义15.3人，峰值36人。</a:t>
            </a:r>
          </a:p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36人仅为实施峰值；另需支持团队和本地固定岗位。</a:t>
            </a:r>
          </a:p>
        </p:txBody>
      </p:sp>
    </p:spTree>
    <p:extLst>
      <p:ext uri="{BB962C8B-B14F-4D97-AF65-F5344CB8AC3E}">
        <p14:creationId xmlns:p14="http://schemas.microsoft.com/office/powerpoint/2010/main" val="7643344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ED8BC-91CF-4D6C-A506-D471FA71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BUBI  /  MIDDLE EAST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86067-D788-461F-9548-B7FE485C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固定费用按岗位与月份核算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9B37F-8CAD-41AB-B0FF-5BE6473E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2026.10.20  /  v2.1  /  经营假设，非在手订单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1DBCD-7415-4421-ADDF-2B321687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BE1C1-C56E-40BC-A9DC-0EC638E3E93D}"/>
              </a:ext>
            </a:extLst>
          </p:cNvPr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476500"/>
                <a:gridCol w="4933950"/>
              </a:tblGrid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费用组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Y1万美元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主要依据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</a:tr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本地团队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73.72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5.5名义岗位，分月到岗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非人力费用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50.8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设立、法务、办公、获客、本地化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</a:tr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固定费用合计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124.52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项目工程成本另列，避免重复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直接现金成本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211.375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按每个项目工期及回款计算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C54B0-2760-465A-A280-7B82C745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Hays 2025版架构师固定月薪中值AED42,500，数据时点Q4 2024。</a:t>
            </a:r>
          </a:p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更新5%及雇主负担系数均为预算假设。</a:t>
            </a:r>
          </a:p>
        </p:txBody>
      </p:sp>
    </p:spTree>
    <p:extLst>
      <p:ext uri="{BB962C8B-B14F-4D97-AF65-F5344CB8AC3E}">
        <p14:creationId xmlns:p14="http://schemas.microsoft.com/office/powerpoint/2010/main" val="18713415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4E859-C678-4E8E-8920-2C434B1C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BUBI  /  MIDDLE EAST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45DB5-CECA-4175-AB03-E0455D11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延期比宏观增速更影响结果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EA299-8EBD-4753-A8E9-D392322C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2026.10.20  /  v2.1  /  经营假设，非在手订单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F68DC-6E9C-4CAF-A60C-AAD59762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86444-4257-46CC-AFE1-0B71648E0C43}"/>
              </a:ext>
            </a:extLst>
          </p:cNvPr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2000250"/>
                <a:gridCol w="2190750"/>
                <a:gridCol w="2171700"/>
              </a:tblGrid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压力变化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收入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经营贡献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周转含储备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</a:tr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基准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410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69.1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108.2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签约整体延后3个月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103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-92.5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134.9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</a:tr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回款再延后2个月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410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69.1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188.3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报价下降15%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348.5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11.1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125.1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</a:tr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延迟及成本双压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103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-102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225.6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C9AD8-32C2-47C4-971C-51A56D74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单位：万美元。经营贡献为税前区域指标，未计融资及总部公共管理分摊。</a:t>
            </a:r>
          </a:p>
        </p:txBody>
      </p:sp>
    </p:spTree>
    <p:extLst>
      <p:ext uri="{BB962C8B-B14F-4D97-AF65-F5344CB8AC3E}">
        <p14:creationId xmlns:p14="http://schemas.microsoft.com/office/powerpoint/2010/main" val="20018719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505D8-3C20-4392-9A48-BAC49050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BUBI  /  MIDDLE EAST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86677-A2CA-4BB2-8CD0-C750E1BF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两国分工与签约路径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1F8AA-A262-45AA-B868-FB5BD3FF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2026.10.20  /  v2.1  /  经营假设，非在手订单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3BCD9-BEEC-4852-A53C-9FC0B15B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3BD80-BC3C-4429-9AC9-945C69453BE4}"/>
              </a:ext>
            </a:extLst>
          </p:cNvPr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62600"/>
                <a:gridCol w="5562600"/>
              </a:tblGrid>
              <a:tr h="738188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阿联酋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沙特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</a:tr>
              <a:tr h="738188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4个验证 + 2个企业平台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4个验证 + 2个企业平台 + 1产业平台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  <a:tr h="738188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规划签约166万美元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规划签约310万美元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</a:tr>
              <a:tr h="738188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集团采购、贸易与跨境凭证样板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产业运营方、大型集团与本地交付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869DE-3425-4DFC-86CC-2E105D20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国家分配是经营假设。产业线M1启动开发，不能等全部企业试点结束后才开始。</a:t>
            </a:r>
          </a:p>
        </p:txBody>
      </p:sp>
    </p:spTree>
    <p:extLst>
      <p:ext uri="{BB962C8B-B14F-4D97-AF65-F5344CB8AC3E}">
        <p14:creationId xmlns:p14="http://schemas.microsoft.com/office/powerpoint/2010/main" val="5500481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1975F-1133-4C84-B760-9A68EA0A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BUBI  /  MIDDLE EAST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054E0-9574-4178-8503-6FAB938C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季度里程碑和拨款条件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C812A-F435-4B99-8580-BF2F3B1A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2026.10.20  /  v2.1  /  经营假设，非在手订单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21903-9417-4B65-9B7E-F30AD206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DD28E-464E-477B-BD07-E20C6A1BA72C}"/>
              </a:ext>
            </a:extLst>
          </p:cNvPr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6000750"/>
                <a:gridCol w="3124200"/>
              </a:tblGrid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业务证据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资金动作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D90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可售产品、预算方案、运营方工作会议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M1先50万；最迟M3末再50万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D180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4验证、1企业生产、产业合同或明确降档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产业未成则改为企业路径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M5前资金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提前核实排期和13周现金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第三批20万须最迟M5末到位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763B7-E90D-4BC4-A49D-303E4A3F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190万与230万仍是未含附加占用的压力额度。</a:t>
            </a:r>
          </a:p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额度是可用资金，不是预先批准全部支出。</a:t>
            </a:r>
          </a:p>
        </p:txBody>
      </p:sp>
    </p:spTree>
    <p:extLst>
      <p:ext uri="{BB962C8B-B14F-4D97-AF65-F5344CB8AC3E}">
        <p14:creationId xmlns:p14="http://schemas.microsoft.com/office/powerpoint/2010/main" val="20695056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5C1B6-86F0-43AB-9364-526F004B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BUBI  /  MIDDLE EAST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9C1E6-E2D3-4604-A47A-D62559F4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四年发展仍取决于持续交付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E1659-8E53-4C3D-BDFA-EF0E9095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2026.10.20  /  v2.1  /  经营假设，非在手订单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0232C-C066-4A23-AFDB-100CA8E4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624B2-C1DD-49CB-8DE9-B4C519058589}"/>
              </a:ext>
            </a:extLst>
          </p:cNvPr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971675"/>
                <a:gridCol w="1971675"/>
                <a:gridCol w="1971675"/>
                <a:gridCol w="1971675"/>
              </a:tblGrid>
              <a:tr h="619125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万美元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Y1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Y2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Y3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Y4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</a:tr>
              <a:tr h="6191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收入合计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410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665.4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1112.5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1476.1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  <a:tr h="6191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固定费用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124.5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175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240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320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</a:tr>
              <a:tr h="6191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经营贡献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69.1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177.3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369.3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523.3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  <a:tr h="6191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期末合同支持ARR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72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164.4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304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465.6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B832A-B0D0-47B9-B470-DB56DB77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Y2–4新增企业6/9/12家、产业1/2/2家；续费按周年。</a:t>
            </a:r>
          </a:p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后续年度现金未月化，已撤下签约乘90%的回款近似。</a:t>
            </a:r>
          </a:p>
        </p:txBody>
      </p:sp>
    </p:spTree>
    <p:extLst>
      <p:ext uri="{BB962C8B-B14F-4D97-AF65-F5344CB8AC3E}">
        <p14:creationId xmlns:p14="http://schemas.microsoft.com/office/powerpoint/2010/main" val="4611377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41C12-7E12-4EE7-8180-12EB010C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BUBI  /  MIDDLE EAST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CAE90-5D17-4E39-AC53-91F72770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复盘发现与修正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D6610-3FCF-4C64-B21B-3707949A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2026.10.20  /  v2.1  /  经营假设，非在手订单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42AF0-B3DF-40F9-90BC-66F73D88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E0E79-2CA1-45FA-9EE2-110E0ED48803}"/>
              </a:ext>
            </a:extLst>
          </p:cNvPr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62600"/>
                <a:gridCol w="5562600"/>
              </a:tblGrid>
              <a:tr h="64770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复盘发现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v2.1修正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</a:tr>
              <a:tr h="6477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拨款80万小于M6缺口81.6万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50+50+20，第三批最迟M5末到位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  <a:tr h="6477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后续年降价和续费公式不完整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报价全期联动；续费按周年保留首期合同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</a:tr>
              <a:tr h="6477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年度签约额被近似当回款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撤下Y2–4现金数字，标记需月化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  <a:tr h="6477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核验公式为文本、数量可超槽位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公式执行；数量与付款边界显示检查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7B6A6-14FB-4692-95A0-FC7296DA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首年基准结果不变；修正不等于验证了成交率、工时和报价。</a:t>
            </a:r>
          </a:p>
        </p:txBody>
      </p:sp>
    </p:spTree>
    <p:extLst>
      <p:ext uri="{BB962C8B-B14F-4D97-AF65-F5344CB8AC3E}">
        <p14:creationId xmlns:p14="http://schemas.microsoft.com/office/powerpoint/2010/main" val="12772896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5162C-E8C7-4A88-A4FA-6657AACE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BUBI  /  MIDDLE EAST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CA8CF-7151-4912-B332-7465AAB6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附加资金须独立测算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AA9D2-A7C9-4E01-98D6-6082397A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2026.10.20  /  v2.1  /  经营假设，非在手订单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78EEC-4875-47DA-90DC-EC0CAC6E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E96E7-C735-4517-B43B-1EE721A4D4D5}"/>
              </a:ext>
            </a:extLst>
          </p:cNvPr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1714500"/>
                <a:gridCol w="3695700"/>
              </a:tblGrid>
              <a:tr h="64770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资金项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万美元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性质</a:t>
                      </a:r>
                    </a:p>
                  </a:txBody>
                  <a:tcPr marL="91440" marR="91440" marT="45720" marB="45720" anchor="ctr">
                    <a:solidFill>
                      <a:srgbClr val="292D2D"/>
                    </a:solidFill>
                  </a:tcPr>
                </a:tc>
              </a:tr>
              <a:tr h="6477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基础缺口及三个月储备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108.2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原合同及费用模型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  <a:tr h="6477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合同额5%不可回收税费压力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23.8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商业假设，不是法定税率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</a:tr>
              <a:tr h="6477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半数实施合同的10%现金保证金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20.2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现金冻结，不是损益费用</a:t>
                      </a:r>
                    </a:p>
                  </a:txBody>
                  <a:tcPr marL="91440" marR="91440" marT="45720" marB="45720" anchor="ctr">
                    <a:solidFill>
                      <a:srgbClr val="F3F0EA"/>
                    </a:solidFill>
                  </a:tcPr>
                </a:tc>
              </a:tr>
              <a:tr h="6477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示例合计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152.2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5272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可按160万讨论，待真实条款校准</a:t>
                      </a:r>
                    </a:p>
                  </a:txBody>
                  <a:tcPr marL="91440" marR="91440" marT="45720" marB="45720" anchor="ctr">
                    <a:solidFill>
                      <a:srgbClr val="E8E5D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12764-6886-439B-9182-E3DBC588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若回款再迟两个月，叠加相同附加项约需232.3万。</a:t>
            </a:r>
          </a:p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120万基础额度的余量不能直接视为足够覆盖税费与保函。</a:t>
            </a:r>
          </a:p>
        </p:txBody>
      </p:sp>
    </p:spTree>
    <p:extLst>
      <p:ext uri="{BB962C8B-B14F-4D97-AF65-F5344CB8AC3E}">
        <p14:creationId xmlns:p14="http://schemas.microsoft.com/office/powerpoint/2010/main" val="5192813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589C5-DFEE-468B-80F5-8EA33368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BUBI  /  MIDDLE EAST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A7EE2-AB44-429A-803D-700FA3A3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建议管理层批准的经营边界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77793-3AA3-4C2B-BADC-A502B007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2026.10.20  /  v2.1  /  经营假设，非在手订单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6C2F4-2983-4783-8119-CA436481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DFF89-E436-4C79-ACB2-A45DE9AF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1125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7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7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7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7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7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7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7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7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7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rPr>
              <a:t>332万企业核心任务</a:t>
            </a:r>
          </a:p>
          <a:p xmlns:a="http://schemas.openxmlformats.org/drawingml/2006/main">
            <a:pPr>
              <a:defRPr sz="37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BF604D"/>
                </a:solidFill>
                <a:latin typeface="Noto Sans CJK SC"/>
                <a:ea typeface="Noto Sans CJK SC"/>
                <a:cs typeface="Noto Sans CJK SC"/>
              </a:rPr>
              <a:t>＋144万产业附条件增量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F198E-A881-4EDE-97F7-66A1A44B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先锁定产品范围、资源池和周转额度</a:t>
            </a:r>
          </a:p>
          <a:p xmlns:a="http://schemas.openxmlformats.org/drawingml/2006/main">
            <a:pPr>
              <a:defRPr sz="24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252724"/>
                </a:solidFill>
                <a:latin typeface="Noto Sans CJK SC"/>
                <a:ea typeface="Noto Sans CJK SC"/>
                <a:cs typeface="Noto Sans CJK SC"/>
              </a:rPr>
              <a:t>再把476万美元转为正式考核目标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43444-8E40-499E-9A0B-E6D91B4E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使用配套Excel检查假设、合同排期、现金和资源；</a:t>
            </a:r>
          </a:p>
          <a:p xmlns:a="http://schemas.openxmlformats.org/drawingml/2006/main">
            <a:pPr>
              <a:def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A64"/>
                </a:solidFill>
                <a:latin typeface="Noto Sans CJK SC"/>
                <a:ea typeface="Noto Sans CJK SC"/>
                <a:cs typeface="Noto Sans CJK SC"/>
              </a:rPr>
              <a:t>公开资料只能支持条件估算，不能替代真实订单与内部财务。</a:t>
            </a:r>
          </a:p>
        </p:txBody>
      </p:sp>
    </p:spTree>
    <p:extLst>
      <p:ext uri="{BB962C8B-B14F-4D97-AF65-F5344CB8AC3E}">
        <p14:creationId xmlns:p14="http://schemas.microsoft.com/office/powerpoint/2010/main" val="1164670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2026-10-20T12:31:55.1720000Z</dcterms:created>
  <dcterms:modified xsi:type="dcterms:W3CDTF">2026-10-20T12:31:55.1720000Z</dcterms:modified>
</coreProperties>
</file>